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 Inspector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05840" y="29718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 — the research, the delivery approach, and what we change next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24128" y="3703320"/>
            <a:ext cx="164592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review · 6 – 27 July 2026 · workflow platform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console for every stuck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job it does: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on-call engineer finds, diagnoses and fixes a failed process instance in one place — instead of an SSH session, a database query and a guess.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Multi-engine by design: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Flowable environments (test, staging, production) in one search, each labeled with its environment colour.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Safe by construction: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read-only by default; every fix is role-gated, requires a stated reason, and is written to an audit trail the incumbent tool does not have.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Zero footprint on the engines: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integrates strictly through the public Flowable REST API — no database access, no plugin, no agent to install.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Status today: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on the demo host, released as versioned container images, with a nightly full-system test run.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weeks, from empty repository to released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3362858" cy="1572768"/>
          </a:xfrm>
          <a:prstGeom prst="roundRect">
            <a:avLst>
              <a:gd name="adj" fmla="val 3488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46504"/>
            <a:ext cx="336285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314340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528" y="27157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27 July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14418" y="1600200"/>
            <a:ext cx="3362858" cy="1572768"/>
          </a:xfrm>
          <a:prstGeom prst="roundRect">
            <a:avLst>
              <a:gd name="adj" fmla="val 3488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4418" y="1746504"/>
            <a:ext cx="336285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24146" y="2331720"/>
            <a:ext cx="314340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merged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4146" y="27157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green in CI first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43037" y="1600200"/>
            <a:ext cx="3362858" cy="1572768"/>
          </a:xfrm>
          <a:prstGeom prst="roundRect">
            <a:avLst>
              <a:gd name="adj" fmla="val 3488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3037" y="1746504"/>
            <a:ext cx="336285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111k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52765" y="2331720"/>
            <a:ext cx="314340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 code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52765" y="27157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 backend · 41k frontend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3362858" cy="1572768"/>
          </a:xfrm>
          <a:prstGeom prst="roundRect">
            <a:avLst>
              <a:gd name="adj" fmla="val 3488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75304"/>
            <a:ext cx="336285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2,100+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95528" y="4160520"/>
            <a:ext cx="314340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" y="45445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49 against real engines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14418" y="3429000"/>
            <a:ext cx="3362858" cy="1572768"/>
          </a:xfrm>
          <a:prstGeom prst="roundRect">
            <a:avLst>
              <a:gd name="adj" fmla="val 3488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4418" y="3575304"/>
            <a:ext cx="336285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24146" y="4160520"/>
            <a:ext cx="314340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requirements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24146" y="45445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traced to code and tests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43037" y="3429000"/>
            <a:ext cx="3362858" cy="1572768"/>
          </a:xfrm>
          <a:prstGeom prst="roundRect">
            <a:avLst>
              <a:gd name="adj" fmla="val 3488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3037" y="3575304"/>
            <a:ext cx="336285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14,700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252765" y="4160520"/>
            <a:ext cx="314340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living specification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52765" y="45445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step with the code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553212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a small team working with AI coding agents under a fixed set of engineering rules.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three weeks were spent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7276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7276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1720" y="1554480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specification only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331720" y="1847088"/>
            <a:ext cx="9174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 studies, an expert panel and a 14-seat review board — no product code written.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31720" y="2350008"/>
            <a:ext cx="9174175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688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6888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2450592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(M0 – M4)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331720" y="2743200"/>
            <a:ext cx="9174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registry, cross-engine search, instance detail with diagram, corrective actions, audit trail, roles.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31720" y="3246120"/>
            <a:ext cx="9174175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36499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6499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3346704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close-out and release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331720" y="3639312"/>
            <a:ext cx="9174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operations, hardening, container release pipeline, live demo environment, parallel CI.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31720" y="4142232"/>
            <a:ext cx="9174175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261104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6110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31720" y="424281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Demand-driven v2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331720" y="4535424"/>
            <a:ext cx="9174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team views, deep paging, runtime engine administration, identity and access, incident ledger.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31720" y="5038344"/>
            <a:ext cx="9174175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5157216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15721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5138928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review and fix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331720" y="5431536"/>
            <a:ext cx="9174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Whole-application review; 17 findings implemented and merged; framework versions brought current.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STARTED · RESEARCH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started with a market study, not a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Study 1 — the incumbent.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full feature and permission inventory of IBM BAW Process Inspector, together with its documented weaknesses: no saved searches, no search by instance ID or variable, manual-only bulk, and no audit trail of administrator actions.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Study 2 — the field.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Seven comparable tools (Camunda, Temporal, Flowable Control, Conductor, Airflow, AWS Step Functions, Azure Durable Functions) reduced to twelve patterns the whole industry has converged on.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Study 3 — the platform.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 Flowable REST API can and cannot actually do — established by experiment against a real engine, before anything was promised.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Output of day one: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specification with a glossary, numbered design principles and an explicit list of things we would not build.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STARTED ·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Then we reviewed the specification like a 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Round 1 — four expert seats.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Workflow-engine specialist, senior support engineer, lead developer and UX expert each reviewed independently, then the findings were reconciled into one specification.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Round 2 — a fourteen-seat review board.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owner, business analyst, architect, DevOps, test manager, usability experts and day-shift, L2 and L3 support staff. Roughly 130 findings.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Reconciliation, not averaging.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seats disagreed the conflict was recorded and decided in writing — including two features cut from the first release on the product owner’s argument.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Result: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117 numbered, prioritised requirements and 3 recorded architecture decisions. Every later change refers back to a requirement number.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Cost: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one day of elapsed time.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STARTED · RETURN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that day of research paid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Six correctness traps found before any product code.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Most serious: the engine returns failed-job lists ten at a time, so a naive implementation lets a broken process instance appear healthy. Every competitor-grade tool has to solve this; we knew it on day one.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Four expensive dead ends refused up front.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query language, an undo-able change preview, live streaming search and engine-internals reporting were all specified away — the engine cannot support them, and each would have cost weeks to discover.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Business blind spots caught early.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specification had no success measures, no release gate and no rollout plan. The product owner’s seat added them before build, not after pilot.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“Adjectives where numbers belong.”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limit, timeout and threshold was rewritten as a testable number — which is why they could later be enforced automatically.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· OPERATING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specification is the system of record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Three documents, three questions.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 product does · how and why it is built that way · when each piece lands. Nothing lives in someone’s head.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lockstep rule.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change in behaviour updates the matching document section in the same change. A change that does not is not finished.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Traceability.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matrix links every requirement to the code that implements it and the test that proves it — which is what makes an audit or a compliance question answerable in minutes.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Why it matters commercially.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contributor — a new hire or an AI agent — reads the rule instead of guessing, and reviews argue about the decision rather than the diff. This is the single practice that made the pace possible.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BEST · 1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Small, complete slices — never a big-bang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Every feature was cut into four to six slices,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one independently reviewable, releasable and demonstrable on its own.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119 changes in 22 days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average change stayed small enough to be reviewed properly rather than waved through.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long-lived branches.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merged the day it was written, so two work streams never spent a week diverging.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Evidence: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five largest second-phase features — shared team views, deep result paging, runtime engine administration, identity and access, and the incident ledger — each went from design lock to complete within one to two days.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trade we accepted: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design decisions up front, in exchange for near-zero integration risk at the end.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BEST · 2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Guardrails are what make speed safe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 short list of non-negotiable rules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covers the ways this product could do real damage: never write to an engine’s database, every corrective action audited and role-gated, database schema only through reviewed migrations.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interface between frontend and backend is generated, not hand-written.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two halves are structurally incapable of drifting apart — a whole class of defect simply cannot occur.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Formatting and code standards are build failures,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review comments. Nobody spends attention on style.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“Done” means the build is green on the merged commit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successful upload is not success. This one definition removed most of the “it works on my machine” traffic.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BEST · 3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Automating the feedback loop, not just the typing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Build and test time: about 25 minutes → 3 minutes 45.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Achieved by running the suite across six parallel build machines. Fast feedback changes behaviour; slow feedback gets skipped.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 realistic environment on demand.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Flowable engines start in containers for the tests. Engine behaviour is never faked — which is how the truncation traps stay caught.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Usability tested before shipping.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Scripted incident missions are driven against the real user interface by test agents; a surface ships when the mission success rate clears an agreed bar.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Independent review on every design and change.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 AI review models act as a second and third opinion at negligible cost — they caught real defects the author had signed off.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evidence behind “it works”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2464994" cy="1481328"/>
          </a:xfrm>
          <a:prstGeom prst="roundRect">
            <a:avLst>
              <a:gd name="adj" fmla="val 3704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46504"/>
            <a:ext cx="24649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1,231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0834" y="1600200"/>
            <a:ext cx="2464994" cy="1481328"/>
          </a:xfrm>
          <a:prstGeom prst="roundRect">
            <a:avLst>
              <a:gd name="adj" fmla="val 3704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0834" y="1746504"/>
            <a:ext cx="24649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80562" y="2331720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real engines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80562" y="2715768"/>
            <a:ext cx="2245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simulated engine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55868" y="1600200"/>
            <a:ext cx="2464994" cy="1481328"/>
          </a:xfrm>
          <a:prstGeom prst="roundRect">
            <a:avLst>
              <a:gd name="adj" fmla="val 3704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5868" y="1746504"/>
            <a:ext cx="24649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5596" y="2331720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unit tests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40901" y="1600200"/>
            <a:ext cx="2464994" cy="1481328"/>
          </a:xfrm>
          <a:prstGeom prst="roundRect">
            <a:avLst>
              <a:gd name="adj" fmla="val 3704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40901" y="1746504"/>
            <a:ext cx="24649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50629" y="2331720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journeys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50629" y="2715768"/>
            <a:ext cx="2245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accessibility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3401568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Nightly full-system run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the complete engine matrix, with a watchdog that raises an alarm if the nightly run itself fails to start.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Every corrective action is proven against a genuinely failing process,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a stubbed response — the failure modes we advertise are the ones we have actually reproduced.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Accessibility and visual checks run in the same pipeline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functional tests, so a regression blocks the merge.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cost us time — the honest 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Documentation drift.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sprint shipped seven fixes without updating the plan or closing the ticket. It was found by a human re-reading the document — the process did not catch it.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 shared working copy.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Parallel work streams changed the same checkout underneath each other, producing confusing failures that were not code defects.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Collisions with unrelated projects on the same host.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network port held by another team’s container looked like an intermittent test failure for a day before it was diagnosed.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Review substitution under quota limits.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 designated review model was unavailable, one run improvised a different reviewer and effectively graded its own work. No defect resulted, but the control had failed.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Implied steps get skipped.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Automated contributors reliably omitted one formatting check whenever it was not named explicitly in the task.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changes to the way we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5204308" cy="1298448"/>
          </a:xfrm>
          <a:prstGeom prst="roundRect">
            <a:avLst>
              <a:gd name="adj" fmla="val 4225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801368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99032" y="1783080"/>
            <a:ext cx="42899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document update a merge check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99032" y="2203704"/>
            <a:ext cx="42899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becomes impossible rather than unlikely; removes the reliance on a reviewer’s memory.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1588" y="1600200"/>
            <a:ext cx="5204308" cy="1298448"/>
          </a:xfrm>
          <a:prstGeom prst="roundRect">
            <a:avLst>
              <a:gd name="adj" fmla="val 4225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2756" y="1801368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6502756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14820" y="1783080"/>
            <a:ext cx="42899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isolated working copy per work stream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14820" y="2203704"/>
            <a:ext cx="42899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tooling, not convention — removes a whole class of phantom failure.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081528"/>
            <a:ext cx="5204308" cy="1298448"/>
          </a:xfrm>
          <a:prstGeom prst="roundRect">
            <a:avLst>
              <a:gd name="adj" fmla="val 4225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3282696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99032" y="3264408"/>
            <a:ext cx="42899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host port range per project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99032" y="3685032"/>
            <a:ext cx="42899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automatically before a build machine starts; ends cross-project interference.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1588" y="3081528"/>
            <a:ext cx="5204308" cy="1298448"/>
          </a:xfrm>
          <a:prstGeom prst="roundRect">
            <a:avLst>
              <a:gd name="adj" fmla="val 4225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2756" y="3282696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6502756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14820" y="3264408"/>
            <a:ext cx="42899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reviewers only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14820" y="3685032"/>
            <a:ext cx="42899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designated reviewer is unavailable the merge waits. No self-grading, ever.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562856"/>
            <a:ext cx="5204308" cy="1298448"/>
          </a:xfrm>
          <a:prstGeom prst="roundRect">
            <a:avLst>
              <a:gd name="adj" fmla="val 4225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476402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886968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99032" y="4745736"/>
            <a:ext cx="42899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spelled out in the task brief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99032" y="5166360"/>
            <a:ext cx="42899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nothing is implied — the cheapest fix on this list.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1588" y="4562856"/>
            <a:ext cx="5204308" cy="1298448"/>
          </a:xfrm>
          <a:prstGeom prst="roundRect">
            <a:avLst>
              <a:gd name="adj" fmla="val 4225"/>
            </a:avLst>
          </a:prstGeom>
          <a:solidFill>
            <a:srgbClr val="F7FAFD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2756" y="476402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2" name="Text 30"/>
          <p:cNvSpPr/>
          <p:nvPr/>
        </p:nvSpPr>
        <p:spPr>
          <a:xfrm>
            <a:off x="6502756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14820" y="4745736"/>
            <a:ext cx="42899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deferred human actions as owned items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14820" y="5166360"/>
            <a:ext cx="42899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activation and production cut-over are named owners with dates, not footnotes in a plan.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would scale — and what we need from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05457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method transfers to other products.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 and panel review first · numbered requirements · thin slices · hard automated gates. None of it is specific to this product.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Highest-leverage practices to reuse elsewhere: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generated interface contracts, a realistic containerised test environment, and parallel build capacity.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Decisions we need sponsored: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engines onboarded for the pilot including one production engine and its signed checklist; activation of the audit-store backup and recovery procedure; and the demand evidence that unlocks the remaining automation features.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ask:</a:t>
            </a:r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 the pilot owner and the three engines, and give us a date for the production onboarding review.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074920"/>
            <a:ext cx="10820095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Inspector — delivery review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Workflow platform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Inspector — delivery review</dc:title>
  <dc:subject>PptxGenJS Presentation</dc:subject>
  <dc:creator>Workflow platform team</dc:creator>
  <cp:lastModifiedBy>Workflow platform team</cp:lastModifiedBy>
  <cp:revision>1</cp:revision>
  <dcterms:created xsi:type="dcterms:W3CDTF">2026-07-28T08:52:30Z</dcterms:created>
  <dcterms:modified xsi:type="dcterms:W3CDTF">2026-07-28T08:52:30Z</dcterms:modified>
</cp:coreProperties>
</file>